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5" r:id="rId2"/>
    <p:sldId id="257" r:id="rId3"/>
    <p:sldId id="265" r:id="rId4"/>
    <p:sldId id="293" r:id="rId5"/>
    <p:sldId id="294" r:id="rId6"/>
    <p:sldId id="266" r:id="rId7"/>
    <p:sldId id="295" r:id="rId8"/>
    <p:sldId id="270" r:id="rId9"/>
    <p:sldId id="296" r:id="rId10"/>
    <p:sldId id="297" r:id="rId11"/>
    <p:sldId id="298" r:id="rId12"/>
    <p:sldId id="299" r:id="rId13"/>
    <p:sldId id="273" r:id="rId14"/>
    <p:sldId id="272" r:id="rId15"/>
    <p:sldId id="285" r:id="rId16"/>
    <p:sldId id="300" r:id="rId17"/>
    <p:sldId id="303" r:id="rId18"/>
    <p:sldId id="301" r:id="rId19"/>
    <p:sldId id="302" r:id="rId20"/>
    <p:sldId id="304" r:id="rId21"/>
    <p:sldId id="305" r:id="rId22"/>
    <p:sldId id="306" r:id="rId23"/>
    <p:sldId id="307" r:id="rId24"/>
    <p:sldId id="280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-10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3909-1B31-45DA-B567-4890CE8EED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2786F-FDEB-4E80-84D0-86C12C375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6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 em chào các thầy trong hội đồng. Em là Đinh Quang Hà. Hôm nay em xin trình bày đồ án tốt nghiệp với đề tài: Điều khiển hệ nhiều tàu thủy sử dụng RISE kết hợp Học tăng cường. Đồ án được thực hiện dưới sự hướng dẫn của thầy Đào Phương Nam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83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57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24A9-FBB5-B802-7288-045023DB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BEABA-8968-5F67-E51B-A8ECFC7E4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612FC-8579-3E89-B49B-21943872C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68D37-09AF-46D1-DEB0-425865946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85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41BC-8296-510A-1957-5AF6120D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14A50-7C0F-60D2-BF0F-D31EB3A2A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AEEEC-D932-ED55-7285-4AADDC755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Fossen.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$\eta$,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($x, y$)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psi).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 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($u$),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($v$) hay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xoay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($r$)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6FCF2-9D94-1F9B-E79F-FB2687A77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57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Fossen.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$\eta$,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($x, y$)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psi).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 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($u$),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($v$) hay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xoay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($r$)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03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B9CB-8613-E4A4-B112-B946BC36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4DC21-3801-C066-6AD4-B5EC9C256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7BBB2-FF97-680E-5F64-3F7703323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Fossen.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$\eta$,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($x, y$)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psi).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 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($u$),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($v$) hay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xoay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($r$)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E6BF-8E11-7A17-FE6B-94FE56C0A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89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4.1. Hai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Công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sub-leader,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(fully actuated),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$\psi_{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d,i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8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9B4E0-2820-7F5C-D564-0F86F7A9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13EEB-3176-19AD-5687-6C38F063E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D6439-99FD-34BE-AB5B-AD640A1AD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4.1. Hai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Công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sub-leader,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(fully actuated),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$\psi_{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d,i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C8D41-F3B7-FB3B-1F1D-8BF632A8F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9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58A1-7AA9-5CD0-9196-AEF86F7D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879A1-0658-C1A4-9ADF-C6DA34FC3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DB2C4-4301-FF33-5C09-37AB0BF52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4.1. Hai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Công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sub-leader,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(fully actuated),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$\psi_{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d,i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89D59-A192-51C3-4C5B-A9609866E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57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D43E-DAFA-11E7-DEEC-5717B08D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7211D-4D52-67AE-96B1-2BDECFAFF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A0521-D03A-2DD3-FF03-814A9CC58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Sửa tên hình 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29249-4173-0F5E-4B05-570D1124A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73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CA4C-A56B-3D78-50E5-2ADFD4E6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BDA4E-E745-6F99-20A5-B5AD5898B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4E790-7D17-572E-0A52-03C297A4F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4.1. Hai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Công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sub-leader,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(fully actuated),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$\psi_{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d,i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7A1FC-13C9-0C6C-8BCA-BC62C1845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91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hợp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học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(1), 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(3).</a:t>
                </a:r>
              </a:p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affine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Các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nhiễu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gom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tổng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quát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như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Đồng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trúc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nhiệm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xấp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 . Khi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còn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ở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đặt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dưới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của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biểu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toàn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lệch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kèm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lambda.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đảm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bảo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vẫn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hữu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ngay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xét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miền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trọng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thể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Nếu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lớn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-men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việc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chọn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quyết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sự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chính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hợp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học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(1), 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(3).</a:t>
                </a:r>
              </a:p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affine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Các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nhiễu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gom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tổng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quát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ℎ_𝑖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như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Đồng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trúc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nhiệm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xấp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 . Khi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còn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ở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đặt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dưới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của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biểu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toàn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lệch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kèm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lambda.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đảm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bảo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vẫn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hữu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ngay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xét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miền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trọng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thể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Nếu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lớn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-men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việc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chọn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quyết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sự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chính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50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khỏi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23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Sai số xác lập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16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CCFB-939D-CFBF-B8D1-CBCD4B4D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088FF-4F55-A886-54A1-77061B80D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7C863-E484-3CE7-D9A3-47B175D4C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lượng.Để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AISMC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FXESO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$10^4$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$10^5$).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(RL)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vững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C397B-7834-1335-F58E-D40701350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008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1E2F-B4B0-F94F-1FD8-7F287DE4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9AB8B-5FB7-DA83-7EEB-49AE8D352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FD82D-DCEE-0AEC-6B51-C7B07E801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lượng.Để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AISMC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FXESO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$10^4$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$10^5$).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(RL)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vững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C9A3-8033-8DE7-AF61-70543BBE4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727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410B-ECC9-8EB8-C465-9173CB6A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7C13B-FD9A-82BF-349A-D98EC9359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46A81FA-C6A5-0F88-4EA1-AE708C281D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Tại sao lại bay theo hình tròn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hợp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học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(1), 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(3).</a:t>
                </a:r>
              </a:p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affine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Các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nhiễu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gom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tổng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quát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ℎ_𝑖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như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Đồng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trúc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nhiệm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xấp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 . Khi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còn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ở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đặt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dưới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của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biểu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toàn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lệch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kèm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lambda.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đảm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bảo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vẫn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hữu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ngay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xét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miền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trọng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thể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Nếu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lớn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-men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việc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chọn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quyết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sự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chính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7DA3D-9A2C-6B98-6CFB-6FFC0EC36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45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94DB7-93DF-959F-28D6-8E63B108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C097E-BC9D-63E9-DBD5-AF3124A1A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CD4B109-2037-23CB-8EEE-FC00DFD8ED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Tại sao là hàm mũ ?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CD4B109-2037-23CB-8EEE-FC00DFD8ED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hợp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học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(1), 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(3).</a:t>
                </a:r>
              </a:p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affine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Các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nhiễu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gom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tổng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quát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như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Đồng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trúc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nhiệm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xấp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 . Khi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còn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ở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đặt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dưới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của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biểu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toàn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lệch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kèm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lambda.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đảm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bảo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vẫn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hữu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ngay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xét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miền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trọng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thể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Nếu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lớn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-men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việc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chọn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quyết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sự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chính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5A5D0-935F-C1FE-47AD-1826FA413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9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EC69-841F-AF43-0830-4981B823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F258B-6E49-B89A-0269-F38608A8D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6FDDC2B-3566-A3B7-927D-0AF9B988326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hợp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học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(1), 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(3).</a:t>
                </a:r>
              </a:p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affine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Các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nhiễu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gom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tổng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quát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như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Đồng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trúc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nhiệm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xấp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 . Khi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còn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ở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đặt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dưới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của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biểu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toàn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lệch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kèm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lambda.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đảm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bảo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vẫn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hữu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ngay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xét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miền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trọng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thể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Nếu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lớn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-men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việc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chọn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quyết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sự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chính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6FDDC2B-3566-A3B7-927D-0AF9B988326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hợp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học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(1), 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(3).</a:t>
                </a:r>
              </a:p>
              <a:p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thấy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affine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Các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nhiễu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gom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tổng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quát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như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Đồng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biến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được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Trong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trúc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sigma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nhiệm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xấp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xỉ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trừ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thành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phần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 . Khi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còn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kế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 ở Phương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trình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(5).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bài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đặt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Tối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cái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endParaRPr lang="en-US" sz="1200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vậy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xây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dưới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của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một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biểu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toàn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lệch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kèm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lambda.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Hệ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chiết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khấu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này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đảm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bảo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hàm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phí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vẫn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hữu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ngay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xét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miền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thời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hạn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Hai ma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trận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trọng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thể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mức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ưu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chất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quỹ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đạo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điều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khiển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Nếu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lớn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thì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mô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-men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tiêu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thụ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tương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ứng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do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đó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việc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lựa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chọn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quyết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định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sự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cân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bằng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giữa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độ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chính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xác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bám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và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hiệu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quả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năng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lượng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C2869-7B0C-4E0F-1D45-6CD58F890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82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F1BB-A727-B736-E01E-8E3B0EF3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65FA3-B329-39BC-1CEA-5E93DC01D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C1CE6-A29E-5D91-4D0D-9D4A276A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khỏi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4BBF7-088D-E492-BFB8-43C3E3B24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84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6D97-3A72-B414-48C1-861B0A33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4593-5101-6158-ACEF-CDD4FF02B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924B9-F035-0FE2-3062-8DEDA75EE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khỏi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96FEA-68AB-A792-8FC8-B3E859C3A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9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B63E-58CA-4503-D42E-0F7E739F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B5B6E-2625-2A98-C51D-1D877400E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DE534-A48B-0762-AF52-D0EB8B6E3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khỏi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hẹp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682D-B76B-A45C-FD01-D5DCD82C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0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Học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(RL)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'admissible control policy'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RL).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bóc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nhiễu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tưởng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huấn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luyện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(inter-vehicle collision avoidance). Trong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khởi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xảy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Mỉm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cười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dứt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khâu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đuổi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vâng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lắng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ạ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09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6286-4122-2B05-4C5E-7439049B9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1731D-B49C-56C6-E4E8-714E182D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40EE2-CC05-E067-AF7F-A143FF69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5B686-F818-9BF3-2D32-44ACDDDD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F88E-D0EB-7CE8-73F8-545E7A66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4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03A3-1DF4-C8AF-17CB-2CA07C71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8268-0378-2BBF-10F2-31F81A4D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59CAB-0314-E710-1D3C-7F291843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18FB1-5D78-6D71-F720-144CF954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CC1F-FD59-DE34-998C-31C96E31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558A-0527-1A16-5EF8-436ACDBF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C92D2-6712-D0E6-7289-9C62A68CB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E35D8-2A05-12DE-CA83-DB0AEDAB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E1302-7741-FAF1-3FC2-D8C27F07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84904-46CD-61BD-4577-A31EAA38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87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4A1E-DC28-DA59-72C5-A31F02AA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81AB-D9B4-26A8-5EF5-94FE0F9E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B48FD-B5A6-CFEB-8746-B5D789BB0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53E80-C591-92C6-958D-98EFD9BF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2B2FB-AD67-AED7-A5D7-647EA238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AE00C-421D-C632-847C-D5013202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6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28AF-3704-6018-1A18-A6D201FD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6BC9A-0CDC-0C2C-677B-85905386F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1CD30-6F98-8B63-1E1E-9FD8E39AD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2C91F-F33F-744D-0B09-B3A780D0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A660E-5FE5-3E93-C057-3B0AE3E89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51AE1-F455-E6F3-8B53-137EC299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790CB-B741-6654-9AFE-69B543111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66132-6BC2-150F-9F0E-05F5B3AA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9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84E4-007A-2954-A9F4-FE32E1B9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52C11-F0D5-B255-2306-246FF746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82FC2-7F88-E12B-92E0-F576F966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BBB65-996F-8287-AC7A-7062BF07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8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F218C-CAF8-EFBE-54B9-3B563C70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84D39-4D23-D750-6E8D-98EB1E1C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78F15-3664-9580-9EE2-F24B7D48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1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BEC2-F55E-6D69-48E9-8B101CDD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621F-F40D-2EB1-4C9D-3F01A71A5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47ECC-4DF2-1BBB-A6E2-BB26EBFE1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82251-0F6F-4D35-6D30-A6180690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795BC-DD6A-E231-9B8A-D9336CDB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F3346-B8C6-1486-B5E6-610DA9D9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93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CD6D-6204-8B4B-5B47-34649E18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8866D-A24E-A39C-CAA9-4341D7EFE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004D-3A19-2151-E0AF-F438FDB7E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0A800-53A8-BD6A-E8B5-4A21FDDD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B8804-958A-F058-37B5-A61CC7338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ED881-2421-634E-ECC1-A34C0830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8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05BA-BA0D-C448-6A8A-F36881CD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8D057-E699-7674-B728-6B8F75BC8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33705-2AF9-E728-FBC8-63881DEF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54BA-9B70-D471-986D-2554E835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5062E-E15F-1DED-D718-98702407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A007C-3E1E-439B-F1CA-84F3E4728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85877-A764-1DBF-4005-D8A567132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F0A49-EA07-42C1-7401-6B985DA0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3FEB4-7B40-1655-C7E8-1C59E01C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9131B-377B-3E85-BB7B-C4E200FE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97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626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250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436" y="841248"/>
            <a:ext cx="11565467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622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267" y="963168"/>
            <a:ext cx="11565467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2485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4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098536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4512" y="1533017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5408" y="1533017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96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267" y="1227550"/>
            <a:ext cx="11565467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120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6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FE82D-9205-EAFB-BB55-FB6C0EC5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1C8EB-7DE8-C6DA-EF4D-5CEBC65B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9CEE4-1C85-6413-4E4A-86F8D640B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EC250-663C-4443-AC7B-ADEE779C4B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9D773-4805-CDD7-EE52-9CCFD94D6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44AC4-B4E4-3E38-6146-F86588BA4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FC905-A4B7-40BF-BB5E-195705857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7" r:id="rId17"/>
    <p:sldLayoutId id="2147483668" r:id="rId18"/>
    <p:sldLayoutId id="21474836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7013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1918928" y="2111570"/>
            <a:ext cx="8354144" cy="142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800" noProof="1"/>
              <a:t>Decentralized Formation Control and Target Tracking for Quadrotor UAVs</a:t>
            </a:r>
            <a:br>
              <a:rPr lang="vi-VN" sz="3800" noProof="1"/>
            </a:br>
            <a:endParaRPr lang="vi-VN" sz="3800" noProof="1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1937013" y="3898128"/>
            <a:ext cx="7342482" cy="13423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vi-VN" sz="2800" b="0" noProof="1"/>
          </a:p>
          <a:p>
            <a:endParaRPr lang="vi-VN" sz="2800" b="0" noProof="1"/>
          </a:p>
          <a:p>
            <a:endParaRPr lang="vi-VN" sz="2800" b="0" noProof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7F8234-471A-A82C-0ED9-6D63BB4C0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51634"/>
              </p:ext>
            </p:extLst>
          </p:nvPr>
        </p:nvGraphicFramePr>
        <p:xfrm>
          <a:off x="1918928" y="3868836"/>
          <a:ext cx="660522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741">
                  <a:extLst>
                    <a:ext uri="{9D8B030D-6E8A-4147-A177-3AD203B41FA5}">
                      <a16:colId xmlns:a16="http://schemas.microsoft.com/office/drawing/2014/main" val="1750302529"/>
                    </a:ext>
                  </a:extLst>
                </a:gridCol>
                <a:gridCol w="414381">
                  <a:extLst>
                    <a:ext uri="{9D8B030D-6E8A-4147-A177-3AD203B41FA5}">
                      <a16:colId xmlns:a16="http://schemas.microsoft.com/office/drawing/2014/main" val="3288808693"/>
                    </a:ext>
                  </a:extLst>
                </a:gridCol>
                <a:gridCol w="3989101">
                  <a:extLst>
                    <a:ext uri="{9D8B030D-6E8A-4147-A177-3AD203B41FA5}">
                      <a16:colId xmlns:a16="http://schemas.microsoft.com/office/drawing/2014/main" val="1175547176"/>
                    </a:ext>
                  </a:extLst>
                </a:gridCol>
              </a:tblGrid>
              <a:tr h="447436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Student Name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NGUYEN NGOC HUY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155163"/>
                  </a:ext>
                </a:extLst>
              </a:tr>
              <a:tr h="447436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Student ID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20222300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877006"/>
                  </a:ext>
                </a:extLst>
              </a:tr>
              <a:tr h="447436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Supervisor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rgbClr val="C00000"/>
                          </a:solidFill>
                        </a:rPr>
                        <a:t>Dr. NGUYEN DINH HOA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16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3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Introduction</a:t>
            </a:r>
            <a:endParaRPr lang="vi-VN" noProof="1"/>
          </a:p>
        </p:txBody>
      </p:sp>
      <p:pic>
        <p:nvPicPr>
          <p:cNvPr id="7" name="Content Placeholder 6" descr="A Survey: Future Smart Cities Based on Advance Control of Unmanned ...">
            <a:extLst>
              <a:ext uri="{FF2B5EF4-FFF2-40B4-BE49-F238E27FC236}">
                <a16:creationId xmlns:a16="http://schemas.microsoft.com/office/drawing/2014/main" id="{E59B1A67-251D-78F0-DC48-43119B9AAB1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565103" y="957973"/>
            <a:ext cx="4951482" cy="3258975"/>
          </a:xfrm>
          <a:prstGeom prst="rect">
            <a:avLst/>
          </a:prstGeom>
        </p:spPr>
      </p:pic>
      <p:pic>
        <p:nvPicPr>
          <p:cNvPr id="8" name="Picture 7" descr="Britain’s Royal Air Force chief says drone swarms are ready to ...">
            <a:extLst>
              <a:ext uri="{FF2B5EF4-FFF2-40B4-BE49-F238E27FC236}">
                <a16:creationId xmlns:a16="http://schemas.microsoft.com/office/drawing/2014/main" id="{5A677FD7-6FDE-28E1-01C6-8961D74F2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26" y="1331022"/>
            <a:ext cx="5131691" cy="28859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2F997F-3FD2-76CE-BE53-498314A5A4CF}"/>
              </a:ext>
            </a:extLst>
          </p:cNvPr>
          <p:cNvSpPr txBox="1"/>
          <p:nvPr/>
        </p:nvSpPr>
        <p:spPr>
          <a:xfrm>
            <a:off x="1619758" y="4405511"/>
            <a:ext cx="247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</a:t>
            </a:r>
            <a:r>
              <a:rPr lang="vi-VN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vi-VN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Drone formation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72853D-3944-E4AA-7489-97FC4407762E}"/>
              </a:ext>
            </a:extLst>
          </p:cNvPr>
          <p:cNvSpPr txBox="1"/>
          <p:nvPr/>
        </p:nvSpPr>
        <p:spPr>
          <a:xfrm>
            <a:off x="7055767" y="4405511"/>
            <a:ext cx="397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</a:t>
            </a:r>
            <a:r>
              <a:rPr lang="vi-VN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vi-VN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 of drone formation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B4AD3-8183-EB66-623C-42FC134A286C}"/>
              </a:ext>
            </a:extLst>
          </p:cNvPr>
          <p:cNvSpPr txBox="1"/>
          <p:nvPr/>
        </p:nvSpPr>
        <p:spPr>
          <a:xfrm>
            <a:off x="1169280" y="4976697"/>
            <a:ext cx="8863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Expanding the scope of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Redundancy and Robustness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Cooperative Ability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B68D-88A5-4219-126A-BB143FC0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13B347-1470-E899-F4AC-1641B3DC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4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FDF5C6-C10F-9169-FBB8-6F9525D8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Introduction</a:t>
            </a:r>
            <a:endParaRPr lang="vi-VN" noProof="1"/>
          </a:p>
        </p:txBody>
      </p:sp>
      <p:pic>
        <p:nvPicPr>
          <p:cNvPr id="6" name="Picture 5" descr="Unmanned Aerial Vehicles (UAV) Networking Algorithms: Communication ...">
            <a:extLst>
              <a:ext uri="{FF2B5EF4-FFF2-40B4-BE49-F238E27FC236}">
                <a16:creationId xmlns:a16="http://schemas.microsoft.com/office/drawing/2014/main" id="{4A294758-7C54-2198-F5E1-6BF612799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754" y="1413403"/>
            <a:ext cx="5586892" cy="3213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61150E-328F-3F30-6431-272C3AF0F6FC}"/>
              </a:ext>
            </a:extLst>
          </p:cNvPr>
          <p:cNvSpPr txBox="1"/>
          <p:nvPr/>
        </p:nvSpPr>
        <p:spPr>
          <a:xfrm>
            <a:off x="628360" y="4236540"/>
            <a:ext cx="54676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Our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Decentralized Formation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Reduced GPS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Fully Leveraging Onboard Sensor (DeepCamera &amp; Lidar)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6D500-9DCC-3E79-E6EB-B8B72E85B85C}"/>
              </a:ext>
            </a:extLst>
          </p:cNvPr>
          <p:cNvSpPr txBox="1"/>
          <p:nvPr/>
        </p:nvSpPr>
        <p:spPr>
          <a:xfrm>
            <a:off x="7718847" y="4785861"/>
            <a:ext cx="3262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</a:t>
            </a: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3: Multi-agent system</a:t>
            </a:r>
            <a:endParaRPr lang="vi-VN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150DB-C32A-9C85-7CB2-5C3AF0066FF1}"/>
              </a:ext>
            </a:extLst>
          </p:cNvPr>
          <p:cNvSpPr txBox="1"/>
          <p:nvPr/>
        </p:nvSpPr>
        <p:spPr>
          <a:xfrm>
            <a:off x="628360" y="1582278"/>
            <a:ext cx="54676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Conventional: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Single ground station computes all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High communication bandwidth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Dependency on Ground Station and GPS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Loss of Signal -&gt; Loss of Formation</a:t>
            </a:r>
          </a:p>
        </p:txBody>
      </p:sp>
    </p:spTree>
    <p:extLst>
      <p:ext uri="{BB962C8B-B14F-4D97-AF65-F5344CB8AC3E}">
        <p14:creationId xmlns:p14="http://schemas.microsoft.com/office/powerpoint/2010/main" val="194202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878B-0E2C-724F-FC3C-B2C9EE35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5CA090-E7F0-D877-1489-6E132FF1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5364" y="6492875"/>
            <a:ext cx="2743200" cy="365125"/>
          </a:xfrm>
        </p:spPr>
        <p:txBody>
          <a:bodyPr/>
          <a:lstStyle/>
          <a:p>
            <a:fld id="{9EA0BE3B-158A-4EDF-80DC-E394A0D1600F}" type="slidenum">
              <a:rPr lang="vi-VN" noProof="1" smtClean="0"/>
              <a:pPr/>
              <a:t>5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AE3F7E-E1A0-6656-4F21-D95FBDB6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Mathematical Model</a:t>
            </a:r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0DF34A-C618-9D0D-D06E-CA158AC8D0D1}"/>
                  </a:ext>
                </a:extLst>
              </p:cNvPr>
              <p:cNvSpPr txBox="1"/>
              <p:nvPr/>
            </p:nvSpPr>
            <p:spPr>
              <a:xfrm>
                <a:off x="948436" y="1312866"/>
                <a:ext cx="4093464" cy="2138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0DF34A-C618-9D0D-D06E-CA158AC8D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36" y="1312866"/>
                <a:ext cx="4093464" cy="2138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0B0C69-366B-1638-B9B3-3626B3817A2F}"/>
                  </a:ext>
                </a:extLst>
              </p:cNvPr>
              <p:cNvSpPr txBox="1"/>
              <p:nvPr/>
            </p:nvSpPr>
            <p:spPr>
              <a:xfrm>
                <a:off x="5844034" y="1462894"/>
                <a:ext cx="6034530" cy="1799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func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d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0B0C69-366B-1638-B9B3-3626B3817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034" y="1462894"/>
                <a:ext cx="6034530" cy="1799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282B327-525F-CC23-FCA1-C5A9B5C85951}"/>
              </a:ext>
            </a:extLst>
          </p:cNvPr>
          <p:cNvSpPr txBox="1"/>
          <p:nvPr/>
        </p:nvSpPr>
        <p:spPr>
          <a:xfrm>
            <a:off x="669036" y="912756"/>
            <a:ext cx="142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Dynamic: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C699C-1A58-1AF6-D1E3-18F640697E8D}"/>
              </a:ext>
            </a:extLst>
          </p:cNvPr>
          <p:cNvSpPr txBox="1"/>
          <p:nvPr/>
        </p:nvSpPr>
        <p:spPr>
          <a:xfrm>
            <a:off x="6096000" y="912756"/>
            <a:ext cx="1642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Kinematic: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988673-013E-BDD6-C7E3-52756D9C7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286" y="3412261"/>
            <a:ext cx="4759789" cy="28095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42DC59-4897-FBA7-D4FE-76D305C203F5}"/>
              </a:ext>
            </a:extLst>
          </p:cNvPr>
          <p:cNvSpPr txBox="1"/>
          <p:nvPr/>
        </p:nvSpPr>
        <p:spPr>
          <a:xfrm>
            <a:off x="2387600" y="4583675"/>
            <a:ext cx="242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 4: Inertial Frame and Body Frame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D2E4A-367B-F806-E1B3-BFD70937BBE5}"/>
              </a:ext>
            </a:extLst>
          </p:cNvPr>
          <p:cNvSpPr txBox="1"/>
          <p:nvPr/>
        </p:nvSpPr>
        <p:spPr>
          <a:xfrm>
            <a:off x="4889261" y="2177897"/>
            <a:ext cx="453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DC733-DD60-6603-98C7-923AD92E0265}"/>
              </a:ext>
            </a:extLst>
          </p:cNvPr>
          <p:cNvSpPr txBox="1"/>
          <p:nvPr/>
        </p:nvSpPr>
        <p:spPr>
          <a:xfrm>
            <a:off x="11149163" y="2177897"/>
            <a:ext cx="453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33895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6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Mathematical Model</a:t>
            </a:r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2932CF-2E69-0433-2F11-2CA2A8312EC0}"/>
                  </a:ext>
                </a:extLst>
              </p:cNvPr>
              <p:cNvSpPr txBox="1"/>
              <p:nvPr/>
            </p:nvSpPr>
            <p:spPr>
              <a:xfrm>
                <a:off x="948436" y="1312866"/>
                <a:ext cx="4093464" cy="2138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2932CF-2E69-0433-2F11-2CA2A8312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36" y="1312866"/>
                <a:ext cx="4093464" cy="2138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4AE53C-B191-EA59-0074-2ABE343FC340}"/>
                  </a:ext>
                </a:extLst>
              </p:cNvPr>
              <p:cNvSpPr txBox="1"/>
              <p:nvPr/>
            </p:nvSpPr>
            <p:spPr>
              <a:xfrm>
                <a:off x="5844034" y="1500994"/>
                <a:ext cx="6034530" cy="1799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func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d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4AE53C-B191-EA59-0074-2ABE343F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034" y="1500994"/>
                <a:ext cx="6034530" cy="1799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9C0B3E6-C22B-6FDB-81E2-1F2E4701565C}"/>
              </a:ext>
            </a:extLst>
          </p:cNvPr>
          <p:cNvSpPr txBox="1"/>
          <p:nvPr/>
        </p:nvSpPr>
        <p:spPr>
          <a:xfrm>
            <a:off x="669036" y="912756"/>
            <a:ext cx="142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Dynamic: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331C31-A608-DB16-D470-5FB0D6697FAE}"/>
              </a:ext>
            </a:extLst>
          </p:cNvPr>
          <p:cNvSpPr txBox="1"/>
          <p:nvPr/>
        </p:nvSpPr>
        <p:spPr>
          <a:xfrm>
            <a:off x="6096000" y="912756"/>
            <a:ext cx="1642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Kinematic: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E900FD-195D-725A-7510-6A85D5F07403}"/>
              </a:ext>
            </a:extLst>
          </p:cNvPr>
          <p:cNvSpPr/>
          <p:nvPr/>
        </p:nvSpPr>
        <p:spPr>
          <a:xfrm>
            <a:off x="3429701" y="4421785"/>
            <a:ext cx="4828665" cy="16218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E41258-AC85-3312-1D23-8CE1B419AB1C}"/>
                  </a:ext>
                </a:extLst>
              </p:cNvPr>
              <p:cNvSpPr txBox="1"/>
              <p:nvPr/>
            </p:nvSpPr>
            <p:spPr>
              <a:xfrm>
                <a:off x="3606102" y="4849201"/>
                <a:ext cx="1422400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E41258-AC85-3312-1D23-8CE1B419A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102" y="4849201"/>
                <a:ext cx="1422400" cy="710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3144A-CEDF-B56E-1208-3CB357D1EB57}"/>
                  </a:ext>
                </a:extLst>
              </p:cNvPr>
              <p:cNvSpPr txBox="1"/>
              <p:nvPr/>
            </p:nvSpPr>
            <p:spPr>
              <a:xfrm>
                <a:off x="4317302" y="4715991"/>
                <a:ext cx="4298692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, 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F3144A-CEDF-B56E-1208-3CB357D1E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02" y="4715991"/>
                <a:ext cx="4298692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Bent 20">
            <a:extLst>
              <a:ext uri="{FF2B5EF4-FFF2-40B4-BE49-F238E27FC236}">
                <a16:creationId xmlns:a16="http://schemas.microsoft.com/office/drawing/2014/main" id="{04B35E15-C442-F9E7-EBA7-21FD0C033ED7}"/>
              </a:ext>
            </a:extLst>
          </p:cNvPr>
          <p:cNvSpPr/>
          <p:nvPr/>
        </p:nvSpPr>
        <p:spPr>
          <a:xfrm rot="10800000">
            <a:off x="8969566" y="4282096"/>
            <a:ext cx="1226220" cy="1074910"/>
          </a:xfrm>
          <a:prstGeom prst="ben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66E82-22F1-6F78-7C05-86D5A8B415DC}"/>
              </a:ext>
            </a:extLst>
          </p:cNvPr>
          <p:cNvSpPr txBox="1"/>
          <p:nvPr/>
        </p:nvSpPr>
        <p:spPr>
          <a:xfrm>
            <a:off x="948436" y="3785152"/>
            <a:ext cx="4254500" cy="38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Reduced-order kinematic model: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82FAA-9507-16F1-1FEA-50DA8F7FB89D}"/>
              </a:ext>
            </a:extLst>
          </p:cNvPr>
          <p:cNvSpPr txBox="1"/>
          <p:nvPr/>
        </p:nvSpPr>
        <p:spPr>
          <a:xfrm>
            <a:off x="7754689" y="5019632"/>
            <a:ext cx="453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61CFE-B63A-EF9C-6C87-CC785B1EBA21}"/>
              </a:ext>
            </a:extLst>
          </p:cNvPr>
          <p:cNvSpPr txBox="1"/>
          <p:nvPr/>
        </p:nvSpPr>
        <p:spPr>
          <a:xfrm>
            <a:off x="4889261" y="2177897"/>
            <a:ext cx="453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F0AD8C-22AB-803F-5968-5B4BFF4A0B1C}"/>
              </a:ext>
            </a:extLst>
          </p:cNvPr>
          <p:cNvSpPr txBox="1"/>
          <p:nvPr/>
        </p:nvSpPr>
        <p:spPr>
          <a:xfrm>
            <a:off x="11149163" y="2177897"/>
            <a:ext cx="453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C631A-96F9-D8EA-6504-BBBFA010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963151-2D5D-D27C-AC54-BDFC04B7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7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81D6D2-4437-31F4-2E37-8A1A7DB2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Mathematical Model</a:t>
            </a:r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8DFA82-28DB-6C39-1D3D-F82DF143303D}"/>
                  </a:ext>
                </a:extLst>
              </p:cNvPr>
              <p:cNvSpPr txBox="1"/>
              <p:nvPr/>
            </p:nvSpPr>
            <p:spPr>
              <a:xfrm>
                <a:off x="5717204" y="1503764"/>
                <a:ext cx="6034530" cy="2052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rad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arcsin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</m:den>
                                          </m:f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  <m:func>
                                                <m:func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b="0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𝑢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  <m:func>
                                                    <m:func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b="0" i="0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cos</m:t>
                                                      </m:r>
                                                    </m:fName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𝜓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𝑟</m:t>
                                                          </m:r>
                                                        </m:sub>
                                                      </m:sSub>
                                                      <m:d>
                                                        <m:dPr>
                                                          <m:ctrlP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func>
                                                </m:e>
                                              </m:func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eqAr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  <m:func>
                                            <m:func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  <m:func>
                                                <m:func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b="0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</m:e>
                                          </m:func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8DFA82-28DB-6C39-1D3D-F82DF1433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204" y="1503764"/>
                <a:ext cx="6034530" cy="2052100"/>
              </a:xfrm>
              <a:prstGeom prst="rect">
                <a:avLst/>
              </a:prstGeom>
              <a:blipFill>
                <a:blip r:embed="rId3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ED141C-D889-8422-95BE-298ED0969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556" y="3922160"/>
            <a:ext cx="5484555" cy="22836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CCFC7A-4FEA-65D0-4058-C59EECA5901A}"/>
                  </a:ext>
                </a:extLst>
              </p:cNvPr>
              <p:cNvSpPr txBox="1"/>
              <p:nvPr/>
            </p:nvSpPr>
            <p:spPr>
              <a:xfrm>
                <a:off x="-457289" y="1629661"/>
                <a:ext cx="6034530" cy="1799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func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CCFC7A-4FEA-65D0-4058-C59EECA59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289" y="1629661"/>
                <a:ext cx="6034530" cy="17993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F884AC4-FDF8-4741-F3F3-DF2E2193D22B}"/>
              </a:ext>
            </a:extLst>
          </p:cNvPr>
          <p:cNvSpPr txBox="1"/>
          <p:nvPr/>
        </p:nvSpPr>
        <p:spPr>
          <a:xfrm>
            <a:off x="2255547" y="5063995"/>
            <a:ext cx="242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 5: Mathematical Model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96BFF6A-52F1-9277-805E-88C4242085FE}"/>
              </a:ext>
            </a:extLst>
          </p:cNvPr>
          <p:cNvSpPr/>
          <p:nvPr/>
        </p:nvSpPr>
        <p:spPr>
          <a:xfrm>
            <a:off x="4905534" y="2301214"/>
            <a:ext cx="531744" cy="4572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4D7EA-D4E3-9C47-D655-68C3F519F920}"/>
              </a:ext>
            </a:extLst>
          </p:cNvPr>
          <p:cNvSpPr txBox="1"/>
          <p:nvPr/>
        </p:nvSpPr>
        <p:spPr>
          <a:xfrm>
            <a:off x="440266" y="1134432"/>
            <a:ext cx="503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(2), (3):</a:t>
            </a:r>
          </a:p>
        </p:txBody>
      </p:sp>
    </p:spTree>
    <p:extLst>
      <p:ext uri="{BB962C8B-B14F-4D97-AF65-F5344CB8AC3E}">
        <p14:creationId xmlns:p14="http://schemas.microsoft.com/office/powerpoint/2010/main" val="384023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8</a:t>
            </a:fld>
            <a:endParaRPr lang="vi-VN" noProof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Formation Strategy</a:t>
            </a:r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6A68E1-3D26-41ED-FD66-5001E45BD60C}"/>
                  </a:ext>
                </a:extLst>
              </p:cNvPr>
              <p:cNvSpPr txBox="1"/>
              <p:nvPr/>
            </p:nvSpPr>
            <p:spPr>
              <a:xfrm>
                <a:off x="1589687" y="1943714"/>
                <a:ext cx="8191697" cy="540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𝒊𝒋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𝐢𝐣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6A68E1-3D26-41ED-FD66-5001E45BD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87" y="1943714"/>
                <a:ext cx="8191697" cy="540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D5721B-C5A8-5F33-7CED-BB043CA495B1}"/>
                  </a:ext>
                </a:extLst>
              </p:cNvPr>
              <p:cNvSpPr txBox="1"/>
              <p:nvPr/>
            </p:nvSpPr>
            <p:spPr>
              <a:xfrm>
                <a:off x="3708493" y="5289945"/>
                <a:ext cx="477501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⋆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D5721B-C5A8-5F33-7CED-BB043CA49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493" y="5289945"/>
                <a:ext cx="477501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5EC26C-24FB-A3DD-E29B-6360CDC0F67C}"/>
                  </a:ext>
                </a:extLst>
              </p:cNvPr>
              <p:cNvSpPr txBox="1"/>
              <p:nvPr/>
            </p:nvSpPr>
            <p:spPr>
              <a:xfrm>
                <a:off x="2873374" y="3454605"/>
                <a:ext cx="6445250" cy="922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𝑇h𝑒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𝑙𝑖𝑛𝑘𝑠</m:t>
                          </m:r>
                        </m:lim>
                      </m:limLow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5EC26C-24FB-A3DD-E29B-6360CDC0F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74" y="3454605"/>
                <a:ext cx="6445250" cy="9228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4C25C52-0670-29BB-3979-23C3C9B79F12}"/>
              </a:ext>
            </a:extLst>
          </p:cNvPr>
          <p:cNvSpPr txBox="1"/>
          <p:nvPr/>
        </p:nvSpPr>
        <p:spPr>
          <a:xfrm>
            <a:off x="313436" y="1355112"/>
            <a:ext cx="537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Formation control based distance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0B17C-8CBB-417B-FA79-E0C308CD0828}"/>
              </a:ext>
            </a:extLst>
          </p:cNvPr>
          <p:cNvSpPr txBox="1"/>
          <p:nvPr/>
        </p:nvSpPr>
        <p:spPr>
          <a:xfrm>
            <a:off x="313435" y="2784952"/>
            <a:ext cx="834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evaluate the rigidity of a formation configuration, we consider: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256CD4-7DB9-8476-AD8B-8A6FA24FC6B3}"/>
              </a:ext>
            </a:extLst>
          </p:cNvPr>
          <p:cNvSpPr txBox="1"/>
          <p:nvPr/>
        </p:nvSpPr>
        <p:spPr>
          <a:xfrm>
            <a:off x="440436" y="4677743"/>
            <a:ext cx="524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potential function for formation task: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CD0191-6194-47C1-6028-42B9169BAB52}"/>
              </a:ext>
            </a:extLst>
          </p:cNvPr>
          <p:cNvSpPr txBox="1"/>
          <p:nvPr/>
        </p:nvSpPr>
        <p:spPr>
          <a:xfrm>
            <a:off x="8796598" y="5410747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808A-DA20-B4E0-3A69-328600AA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80DDD-7CB1-B386-D302-FEB1D8D0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9</a:t>
            </a:fld>
            <a:endParaRPr lang="vi-VN" noProof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A93A08-1EFF-9D61-AFC7-60565AAF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Connectivity Preserving</a:t>
            </a:r>
            <a:endParaRPr lang="vi-VN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1EA78-F642-9A45-0144-DA9D99151F9E}"/>
              </a:ext>
            </a:extLst>
          </p:cNvPr>
          <p:cNvSpPr txBox="1"/>
          <p:nvPr/>
        </p:nvSpPr>
        <p:spPr>
          <a:xfrm>
            <a:off x="838200" y="1293901"/>
            <a:ext cx="7899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Distance-based graph representation of UAV communication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3B9681-AF38-0492-249C-D55D8F04CFE3}"/>
                  </a:ext>
                </a:extLst>
              </p:cNvPr>
              <p:cNvSpPr txBox="1"/>
              <p:nvPr/>
            </p:nvSpPr>
            <p:spPr>
              <a:xfrm>
                <a:off x="838200" y="1803084"/>
                <a:ext cx="10515600" cy="80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  <m:d>
                                        <m:d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3B9681-AF38-0492-249C-D55D8F04C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03084"/>
                <a:ext cx="10515600" cy="808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353C36-18E8-8D04-90D0-C4C3DAC3E36B}"/>
                  </a:ext>
                </a:extLst>
              </p:cNvPr>
              <p:cNvSpPr txBox="1"/>
              <p:nvPr/>
            </p:nvSpPr>
            <p:spPr>
              <a:xfrm>
                <a:off x="2724150" y="2694927"/>
                <a:ext cx="6743700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353C36-18E8-8D04-90D0-C4C3DAC3E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50" y="2694927"/>
                <a:ext cx="6743700" cy="404983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F5D52E-A92A-88B6-EC65-09C893650BC5}"/>
                  </a:ext>
                </a:extLst>
              </p:cNvPr>
              <p:cNvSpPr txBox="1"/>
              <p:nvPr/>
            </p:nvSpPr>
            <p:spPr>
              <a:xfrm>
                <a:off x="2724150" y="5418190"/>
                <a:ext cx="6743700" cy="762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∏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𝑴</m:t>
                                      </m:r>
                                      <m:d>
                                        <m:d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e>
                          </m:fun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F5D52E-A92A-88B6-EC65-09C893650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50" y="5418190"/>
                <a:ext cx="6743700" cy="7622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36C9B9-F694-0464-0379-CB855AB23A21}"/>
                  </a:ext>
                </a:extLst>
              </p:cNvPr>
              <p:cNvSpPr txBox="1"/>
              <p:nvPr/>
            </p:nvSpPr>
            <p:spPr>
              <a:xfrm>
                <a:off x="2457450" y="3696499"/>
                <a:ext cx="7277100" cy="97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b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36C9B9-F694-0464-0379-CB855AB2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50" y="3696499"/>
                <a:ext cx="7277100" cy="972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D769D3-E790-F7A1-94B5-1610826E7A83}"/>
              </a:ext>
            </a:extLst>
          </p:cNvPr>
          <p:cNvSpPr txBox="1"/>
          <p:nvPr/>
        </p:nvSpPr>
        <p:spPr>
          <a:xfrm>
            <a:off x="838200" y="3242284"/>
            <a:ext cx="7899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Reduced Laplacian: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6DC0C-1A36-6883-2C23-BCBE54CDD2A8}"/>
              </a:ext>
            </a:extLst>
          </p:cNvPr>
          <p:cNvSpPr txBox="1"/>
          <p:nvPr/>
        </p:nvSpPr>
        <p:spPr>
          <a:xfrm>
            <a:off x="838200" y="4852980"/>
            <a:ext cx="7899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The potential function for connectivity preserving task: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303447-BE95-32CA-3943-6428A9AF473F}"/>
              </a:ext>
            </a:extLst>
          </p:cNvPr>
          <p:cNvSpPr txBox="1"/>
          <p:nvPr/>
        </p:nvSpPr>
        <p:spPr>
          <a:xfrm>
            <a:off x="9014724" y="5569780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(5)</a:t>
            </a:r>
          </a:p>
        </p:txBody>
      </p:sp>
    </p:spTree>
    <p:extLst>
      <p:ext uri="{BB962C8B-B14F-4D97-AF65-F5344CB8AC3E}">
        <p14:creationId xmlns:p14="http://schemas.microsoft.com/office/powerpoint/2010/main" val="2907619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2EA9-1553-5CCD-3798-9D8410BA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D3A8C-C239-7F5F-B99E-38A990D3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10</a:t>
            </a:fld>
            <a:endParaRPr lang="vi-VN" noProof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A9C857-E25A-7D62-C1CC-384CFEB0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Collision Avoidance</a:t>
            </a:r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237A7-3D2C-445E-37B6-5015AB7543C9}"/>
                  </a:ext>
                </a:extLst>
              </p:cNvPr>
              <p:cNvSpPr txBox="1"/>
              <p:nvPr/>
            </p:nvSpPr>
            <p:spPr>
              <a:xfrm>
                <a:off x="184149" y="2146408"/>
                <a:ext cx="11823700" cy="1439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begChr m:val="|"/>
                                                      <m:endChr m:val="|"/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b="1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b="1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𝒑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b="1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𝒑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begChr m:val="|"/>
                                                      <m:endChr m:val="|"/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b="1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𝒑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b="1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𝒑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𝑠𝑖𝑔𝑛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237A7-3D2C-445E-37B6-5015AB754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9" y="2146408"/>
                <a:ext cx="11823700" cy="1439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5D45D-1001-ED1E-1AD9-727BFEB9CC8C}"/>
                  </a:ext>
                </a:extLst>
              </p:cNvPr>
              <p:cNvSpPr txBox="1"/>
              <p:nvPr/>
            </p:nvSpPr>
            <p:spPr>
              <a:xfrm>
                <a:off x="2482943" y="4658868"/>
                <a:ext cx="7226111" cy="840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  <m:d>
                                        <m:d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5D45D-1001-ED1E-1AD9-727BFEB9C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943" y="4658868"/>
                <a:ext cx="7226111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E351243-D698-66CF-2B11-A07A4277FA7E}"/>
              </a:ext>
            </a:extLst>
          </p:cNvPr>
          <p:cNvSpPr txBox="1"/>
          <p:nvPr/>
        </p:nvSpPr>
        <p:spPr>
          <a:xfrm>
            <a:off x="571499" y="3915263"/>
            <a:ext cx="789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potential function for collision avoidance task: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E30A7-8B3D-A598-5EE4-721FA32BBDAD}"/>
              </a:ext>
            </a:extLst>
          </p:cNvPr>
          <p:cNvSpPr txBox="1"/>
          <p:nvPr/>
        </p:nvSpPr>
        <p:spPr>
          <a:xfrm>
            <a:off x="571500" y="1447718"/>
            <a:ext cx="789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Distance-based collision constraint formulation: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818CF-A7F7-B5E9-85E2-D7B34D9FA67C}"/>
              </a:ext>
            </a:extLst>
          </p:cNvPr>
          <p:cNvSpPr txBox="1"/>
          <p:nvPr/>
        </p:nvSpPr>
        <p:spPr>
          <a:xfrm>
            <a:off x="9066482" y="4894349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403158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9766-9533-8D6E-33CD-BFD96401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4FFD64-47FF-332E-3C8F-B60F6E39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11</a:t>
            </a:fld>
            <a:endParaRPr lang="vi-VN" noProof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F599CA-0A11-FF0D-A07A-898BF166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Observer Design</a:t>
            </a:r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CA5ADA-6D6D-0A2C-0277-F21EFD09BF91}"/>
                  </a:ext>
                </a:extLst>
              </p:cNvPr>
              <p:cNvSpPr txBox="1"/>
              <p:nvPr/>
            </p:nvSpPr>
            <p:spPr>
              <a:xfrm>
                <a:off x="5680531" y="1967243"/>
                <a:ext cx="5588000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CA5ADA-6D6D-0A2C-0277-F21EFD09B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531" y="1967243"/>
                <a:ext cx="5588000" cy="506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C15A28-AEFC-1C9D-BAB7-3125CAAA90CD}"/>
                  </a:ext>
                </a:extLst>
              </p:cNvPr>
              <p:cNvSpPr txBox="1"/>
              <p:nvPr/>
            </p:nvSpPr>
            <p:spPr>
              <a:xfrm>
                <a:off x="5838166" y="2588738"/>
                <a:ext cx="5588000" cy="390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acc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ac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C15A28-AEFC-1C9D-BAB7-3125CAAA9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166" y="2588738"/>
                <a:ext cx="5588000" cy="390941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88FE983-3F68-A6E7-D81E-924B1AF71452}"/>
              </a:ext>
            </a:extLst>
          </p:cNvPr>
          <p:cNvSpPr txBox="1"/>
          <p:nvPr/>
        </p:nvSpPr>
        <p:spPr>
          <a:xfrm>
            <a:off x="5361353" y="3257486"/>
            <a:ext cx="3387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Define the estimation error: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BF2E13-75B8-3AC7-39F5-1D9FF1672A00}"/>
                  </a:ext>
                </a:extLst>
              </p:cNvPr>
              <p:cNvSpPr txBox="1"/>
              <p:nvPr/>
            </p:nvSpPr>
            <p:spPr>
              <a:xfrm>
                <a:off x="6938312" y="3751517"/>
                <a:ext cx="3387707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acc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BF2E13-75B8-3AC7-39F5-1D9FF1672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312" y="3751517"/>
                <a:ext cx="3387707" cy="403124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51F6BC-1DD8-DDF6-4883-D1482F0C2210}"/>
                  </a:ext>
                </a:extLst>
              </p:cNvPr>
              <p:cNvSpPr txBox="1"/>
              <p:nvPr/>
            </p:nvSpPr>
            <p:spPr>
              <a:xfrm>
                <a:off x="2618581" y="5335619"/>
                <a:ext cx="5293397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0,0,1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ac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51F6BC-1DD8-DDF6-4883-D1482F0C2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581" y="5335619"/>
                <a:ext cx="5293397" cy="381515"/>
              </a:xfrm>
              <a:prstGeom prst="rect">
                <a:avLst/>
              </a:prstGeom>
              <a:blipFill>
                <a:blip r:embed="rId6"/>
                <a:stretch>
                  <a:fillRect t="-6349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BB7119-2D54-6498-1A3F-CEED6833B22F}"/>
                  </a:ext>
                </a:extLst>
              </p:cNvPr>
              <p:cNvSpPr txBox="1"/>
              <p:nvPr/>
            </p:nvSpPr>
            <p:spPr>
              <a:xfrm>
                <a:off x="7140404" y="5330961"/>
                <a:ext cx="3387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0,0,1</m:t>
                          </m:r>
                        </m:e>
                      </m:d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BB7119-2D54-6498-1A3F-CEED6833B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404" y="5330961"/>
                <a:ext cx="3387707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FF83ED-BD22-2D5E-8209-E74CB2469F8F}"/>
              </a:ext>
            </a:extLst>
          </p:cNvPr>
          <p:cNvSpPr txBox="1"/>
          <p:nvPr/>
        </p:nvSpPr>
        <p:spPr>
          <a:xfrm>
            <a:off x="5361353" y="1387829"/>
            <a:ext cx="55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Consensus-based observer dynamics: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75B3D-602E-0AE1-8DFD-7F9855957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037" y="1140866"/>
            <a:ext cx="4815609" cy="2666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318D5A-175F-EA3A-4EB6-A70CEBE766AC}"/>
              </a:ext>
            </a:extLst>
          </p:cNvPr>
          <p:cNvSpPr txBox="1"/>
          <p:nvPr/>
        </p:nvSpPr>
        <p:spPr>
          <a:xfrm>
            <a:off x="720908" y="4503814"/>
            <a:ext cx="633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Altitude Error Extractrion (for altitude synchronization)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ED1BB6-EB31-924E-0108-9F8F41E79DB6}"/>
              </a:ext>
            </a:extLst>
          </p:cNvPr>
          <p:cNvSpPr txBox="1"/>
          <p:nvPr/>
        </p:nvSpPr>
        <p:spPr>
          <a:xfrm>
            <a:off x="9966106" y="3768413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(7)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590799-AC1C-8B2F-585F-A51835681717}"/>
              </a:ext>
            </a:extLst>
          </p:cNvPr>
          <p:cNvSpPr txBox="1"/>
          <p:nvPr/>
        </p:nvSpPr>
        <p:spPr>
          <a:xfrm>
            <a:off x="10326019" y="5330961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(8)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8D6874-94EE-ADA6-8FD6-FFFE96B294E9}"/>
              </a:ext>
            </a:extLst>
          </p:cNvPr>
          <p:cNvSpPr txBox="1"/>
          <p:nvPr/>
        </p:nvSpPr>
        <p:spPr>
          <a:xfrm>
            <a:off x="1506068" y="3856675"/>
            <a:ext cx="311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 6: Consensus- </a:t>
            </a:r>
          </a:p>
        </p:txBody>
      </p:sp>
    </p:spTree>
    <p:extLst>
      <p:ext uri="{BB962C8B-B14F-4D97-AF65-F5344CB8AC3E}">
        <p14:creationId xmlns:p14="http://schemas.microsoft.com/office/powerpoint/2010/main" val="4007704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63CA-B4DC-2723-6E1E-5F7ECF40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6C1B93-5B1B-BB51-68E7-F4049515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12</a:t>
            </a:fld>
            <a:endParaRPr lang="vi-VN" noProof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3C6375-2B96-095C-2BED-F3EDD77C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Controller Design</a:t>
            </a:r>
            <a:endParaRPr lang="vi-VN" noProof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9D8F31-2F26-CF54-6797-9858D55A8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053" y="1302703"/>
            <a:ext cx="7569893" cy="253160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BDE8C3B-BE03-02B3-C991-04C3A8074D00}"/>
              </a:ext>
            </a:extLst>
          </p:cNvPr>
          <p:cNvSpPr txBox="1"/>
          <p:nvPr/>
        </p:nvSpPr>
        <p:spPr>
          <a:xfrm>
            <a:off x="940145" y="4376357"/>
            <a:ext cx="3497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Define the virtual velocity: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3D9BB9-724D-ABEC-E93B-4BCB78157D3B}"/>
                  </a:ext>
                </a:extLst>
              </p:cNvPr>
              <p:cNvSpPr txBox="1"/>
              <p:nvPr/>
            </p:nvSpPr>
            <p:spPr>
              <a:xfrm>
                <a:off x="3914872" y="4820765"/>
                <a:ext cx="47897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ba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ba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3D9BB9-724D-ABEC-E93B-4BCB78157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872" y="4820765"/>
                <a:ext cx="4789714" cy="400110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62E6479-203B-7437-CACD-37075B983190}"/>
              </a:ext>
            </a:extLst>
          </p:cNvPr>
          <p:cNvSpPr txBox="1"/>
          <p:nvPr/>
        </p:nvSpPr>
        <p:spPr>
          <a:xfrm>
            <a:off x="940145" y="5357403"/>
            <a:ext cx="564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The error between the virtual and actual velocity: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F874E1-4735-EE0D-437A-79E8A0937CDE}"/>
                  </a:ext>
                </a:extLst>
              </p:cNvPr>
              <p:cNvSpPr txBox="1"/>
              <p:nvPr/>
            </p:nvSpPr>
            <p:spPr>
              <a:xfrm>
                <a:off x="3763172" y="5801123"/>
                <a:ext cx="49414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F874E1-4735-EE0D-437A-79E8A0937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172" y="5801123"/>
                <a:ext cx="49414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F3BC322-D46E-8554-D01E-236C5A12D5DD}"/>
              </a:ext>
            </a:extLst>
          </p:cNvPr>
          <p:cNvSpPr txBox="1"/>
          <p:nvPr/>
        </p:nvSpPr>
        <p:spPr>
          <a:xfrm>
            <a:off x="7539607" y="5801123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94413-4288-3AAC-6DBC-9310D212CCC0}"/>
              </a:ext>
            </a:extLst>
          </p:cNvPr>
          <p:cNvSpPr txBox="1"/>
          <p:nvPr/>
        </p:nvSpPr>
        <p:spPr>
          <a:xfrm>
            <a:off x="4798083" y="3877916"/>
            <a:ext cx="310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 7: Mathematical Model</a:t>
            </a:r>
          </a:p>
        </p:txBody>
      </p:sp>
    </p:spTree>
    <p:extLst>
      <p:ext uri="{BB962C8B-B14F-4D97-AF65-F5344CB8AC3E}">
        <p14:creationId xmlns:p14="http://schemas.microsoft.com/office/powerpoint/2010/main" val="342215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Controller Design</a:t>
            </a:r>
            <a:endParaRPr lang="vi-VN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13</a:t>
            </a:fld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6DB402-E88D-C069-334F-6AA269FC1492}"/>
                  </a:ext>
                </a:extLst>
              </p:cNvPr>
              <p:cNvSpPr txBox="1"/>
              <p:nvPr/>
            </p:nvSpPr>
            <p:spPr>
              <a:xfrm>
                <a:off x="3033486" y="3213567"/>
                <a:ext cx="61250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bar>
                        <m:barPr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ba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6DB402-E88D-C069-334F-6AA269FC1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486" y="3213567"/>
                <a:ext cx="612502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FD28C6-5979-08D8-6220-0A8B4EC7AED0}"/>
                  </a:ext>
                </a:extLst>
              </p:cNvPr>
              <p:cNvSpPr txBox="1"/>
              <p:nvPr/>
            </p:nvSpPr>
            <p:spPr>
              <a:xfrm>
                <a:off x="2489200" y="1800955"/>
                <a:ext cx="7213600" cy="767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FD28C6-5979-08D8-6220-0A8B4E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0" y="1800955"/>
                <a:ext cx="7213600" cy="767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97724F0-9240-FA74-2D18-8DCA2EF53BE7}"/>
              </a:ext>
            </a:extLst>
          </p:cNvPr>
          <p:cNvSpPr txBox="1"/>
          <p:nvPr/>
        </p:nvSpPr>
        <p:spPr>
          <a:xfrm>
            <a:off x="527512" y="3922772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Apply (10), (11) to Lyapunov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F3EB49-6697-87A1-06F2-A7ADE5CF15D6}"/>
                  </a:ext>
                </a:extLst>
              </p:cNvPr>
              <p:cNvSpPr txBox="1"/>
              <p:nvPr/>
            </p:nvSpPr>
            <p:spPr>
              <a:xfrm>
                <a:off x="1444171" y="4601199"/>
                <a:ext cx="9303658" cy="1337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𝑓𝑓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F3EB49-6697-87A1-06F2-A7ADE5CF1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171" y="4601199"/>
                <a:ext cx="9303658" cy="13370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7AC7CE1-8F2B-EB58-42C0-514AD5566D08}"/>
              </a:ext>
            </a:extLst>
          </p:cNvPr>
          <p:cNvSpPr txBox="1"/>
          <p:nvPr/>
        </p:nvSpPr>
        <p:spPr>
          <a:xfrm>
            <a:off x="515731" y="1063335"/>
            <a:ext cx="2995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Applying (4),(5),(6),(7),(8),(9)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AD987-1899-8E32-546E-DC398FCBBCC3}"/>
              </a:ext>
            </a:extLst>
          </p:cNvPr>
          <p:cNvSpPr txBox="1"/>
          <p:nvPr/>
        </p:nvSpPr>
        <p:spPr>
          <a:xfrm>
            <a:off x="4325155" y="1080858"/>
            <a:ext cx="383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Combined Lyapunov function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189B830-47C1-6C42-703D-E25FAE5BF40D}"/>
              </a:ext>
            </a:extLst>
          </p:cNvPr>
          <p:cNvSpPr/>
          <p:nvPr/>
        </p:nvSpPr>
        <p:spPr>
          <a:xfrm>
            <a:off x="3596876" y="1147106"/>
            <a:ext cx="432262" cy="246047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94F0B8-B425-C761-C129-697E5263D1CA}"/>
              </a:ext>
            </a:extLst>
          </p:cNvPr>
          <p:cNvSpPr txBox="1"/>
          <p:nvPr/>
        </p:nvSpPr>
        <p:spPr>
          <a:xfrm>
            <a:off x="527512" y="2663755"/>
            <a:ext cx="501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proposed control law: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0D2A3-9CB3-2DC8-0DEA-136E9EB6C632}"/>
              </a:ext>
            </a:extLst>
          </p:cNvPr>
          <p:cNvSpPr txBox="1"/>
          <p:nvPr/>
        </p:nvSpPr>
        <p:spPr>
          <a:xfrm>
            <a:off x="9702800" y="1921757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7129FD-CB78-5B4A-AAFD-E1618D113A54}"/>
              </a:ext>
            </a:extLst>
          </p:cNvPr>
          <p:cNvSpPr txBox="1"/>
          <p:nvPr/>
        </p:nvSpPr>
        <p:spPr>
          <a:xfrm>
            <a:off x="7802951" y="3214747"/>
            <a:ext cx="71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(11)</a:t>
            </a:r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14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Simulation Result</a:t>
            </a:r>
            <a:endParaRPr lang="vi-VN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3E76D-BB80-E99B-2091-1CF7062ED2F2}"/>
              </a:ext>
            </a:extLst>
          </p:cNvPr>
          <p:cNvSpPr txBox="1"/>
          <p:nvPr/>
        </p:nvSpPr>
        <p:spPr>
          <a:xfrm>
            <a:off x="4013981" y="5848455"/>
            <a:ext cx="4726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8: The process of UAV formation (10 UAVs)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8F7BE-2AAF-6FBB-1141-548C2D961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6" y="1363883"/>
            <a:ext cx="10122549" cy="413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F5251-6358-05CC-B0BA-0E42441F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C534D1-7BD9-CCE9-B248-A31C8133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15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90B21-9CAB-31BD-1FAC-6FFE74C7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Simulation Result</a:t>
            </a:r>
            <a:endParaRPr lang="vi-VN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85014-AC29-C86E-2D0F-9844EFC37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741" y="1602413"/>
            <a:ext cx="9474517" cy="32111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5E506F-0941-CECF-3D1B-F0660A417B0D}"/>
                  </a:ext>
                </a:extLst>
              </p:cNvPr>
              <p:cNvSpPr txBox="1"/>
              <p:nvPr/>
            </p:nvSpPr>
            <p:spPr>
              <a:xfrm>
                <a:off x="3424258" y="5188050"/>
                <a:ext cx="6094562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Fig 9: The distance error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/>
                  <a:t> and altitude error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5E506F-0941-CECF-3D1B-F0660A417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58" y="5188050"/>
                <a:ext cx="6094562" cy="504818"/>
              </a:xfrm>
              <a:prstGeom prst="rect">
                <a:avLst/>
              </a:prstGeom>
              <a:blipFill>
                <a:blip r:embed="rId4"/>
                <a:stretch>
                  <a:fillRect l="-901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28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5474-C4CF-B9D3-9790-21D4E638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EC8876-3C9F-41D1-E5DC-BE0836EB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16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A17A85-C5E2-FD40-E037-E388BEEC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Simulation Result</a:t>
            </a:r>
            <a:endParaRPr lang="vi-VN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9BAC84-92D3-E688-D4A8-4FBB2B76A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01" y="1233578"/>
            <a:ext cx="9376144" cy="15469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FD33BD-E058-3F54-68DA-454E72445599}"/>
                  </a:ext>
                </a:extLst>
              </p:cNvPr>
              <p:cNvSpPr txBox="1"/>
              <p:nvPr/>
            </p:nvSpPr>
            <p:spPr>
              <a:xfrm>
                <a:off x="4137475" y="2780487"/>
                <a:ext cx="468464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Fig 10: The position estimation error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FD33BD-E058-3F54-68DA-454E72445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75" y="2780487"/>
                <a:ext cx="4684645" cy="404983"/>
              </a:xfrm>
              <a:prstGeom prst="rect">
                <a:avLst/>
              </a:prstGeom>
              <a:blipFill>
                <a:blip r:embed="rId4"/>
                <a:stretch>
                  <a:fillRect l="-1172" r="-1042" b="-20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4F4DB65-4CA5-4C9B-EEBB-9D9C2B59E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743" y="3361877"/>
            <a:ext cx="9083902" cy="23404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C4345F-69A3-46C7-1D0F-C0B5A51282A6}"/>
              </a:ext>
            </a:extLst>
          </p:cNvPr>
          <p:cNvSpPr txBox="1"/>
          <p:nvPr/>
        </p:nvSpPr>
        <p:spPr>
          <a:xfrm>
            <a:off x="4137475" y="5878696"/>
            <a:ext cx="5305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11: Min and Max distance between two drones</a:t>
            </a:r>
          </a:p>
        </p:txBody>
      </p:sp>
    </p:spTree>
    <p:extLst>
      <p:ext uri="{BB962C8B-B14F-4D97-AF65-F5344CB8AC3E}">
        <p14:creationId xmlns:p14="http://schemas.microsoft.com/office/powerpoint/2010/main" val="3403726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79EC-74F4-1468-BBD4-0A0EDAEB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68140-20EF-A5BD-1B85-7970E067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17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0C1CC-6BCE-97E0-65B3-055364DD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Tracking Prey</a:t>
            </a:r>
            <a:endParaRPr lang="vi-VN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C3EDA-21E9-797B-2D04-67114388C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44" y="1324743"/>
            <a:ext cx="4655525" cy="3140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5CA8F-130F-5407-FEC3-E47387EA3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112" y="1530028"/>
            <a:ext cx="4306079" cy="29354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BC7ED7-BC00-1392-E907-6F0F13799245}"/>
              </a:ext>
            </a:extLst>
          </p:cNvPr>
          <p:cNvSpPr txBox="1"/>
          <p:nvPr/>
        </p:nvSpPr>
        <p:spPr>
          <a:xfrm>
            <a:off x="1410345" y="4911308"/>
            <a:ext cx="465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12: Drone formation sensing the prey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AB76F6-38B5-29C9-567A-64A60BEF465E}"/>
              </a:ext>
            </a:extLst>
          </p:cNvPr>
          <p:cNvSpPr txBox="1"/>
          <p:nvPr/>
        </p:nvSpPr>
        <p:spPr>
          <a:xfrm>
            <a:off x="7248054" y="4911308"/>
            <a:ext cx="3533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13: Dubins car model for prey </a:t>
            </a:r>
          </a:p>
        </p:txBody>
      </p:sp>
    </p:spTree>
    <p:extLst>
      <p:ext uri="{BB962C8B-B14F-4D97-AF65-F5344CB8AC3E}">
        <p14:creationId xmlns:p14="http://schemas.microsoft.com/office/powerpoint/2010/main" val="769416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B0B2-2BB7-0CA1-191D-EA0B2E16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106C-B5DC-555B-D677-225099C1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Mathematical Model</a:t>
            </a:r>
            <a:endParaRPr lang="vi-VN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159D1-6FC1-6D28-E99E-05AA1467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18</a:t>
            </a:fld>
            <a:endParaRPr lang="vi-VN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D2333-4D17-E640-B690-F8AC8EC8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35" y="1054437"/>
            <a:ext cx="4845477" cy="3124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FC5091-69CA-97BE-6F14-D37C97A066AD}"/>
              </a:ext>
            </a:extLst>
          </p:cNvPr>
          <p:cNvSpPr txBox="1"/>
          <p:nvPr/>
        </p:nvSpPr>
        <p:spPr>
          <a:xfrm>
            <a:off x="1266360" y="4518660"/>
            <a:ext cx="44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 14: Reduced-order formation model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E90689-5A03-F388-475B-C33310FF752D}"/>
                  </a:ext>
                </a:extLst>
              </p:cNvPr>
              <p:cNvSpPr txBox="1"/>
              <p:nvPr/>
            </p:nvSpPr>
            <p:spPr>
              <a:xfrm>
                <a:off x="6503387" y="4703326"/>
                <a:ext cx="47720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E90689-5A03-F388-475B-C33310FF7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387" y="4703326"/>
                <a:ext cx="4772025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AD9FF6-96BE-A893-A3E4-505E3285750F}"/>
                  </a:ext>
                </a:extLst>
              </p:cNvPr>
              <p:cNvSpPr txBox="1"/>
              <p:nvPr/>
            </p:nvSpPr>
            <p:spPr>
              <a:xfrm>
                <a:off x="6534008" y="3206136"/>
                <a:ext cx="4572000" cy="81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AD9FF6-96BE-A893-A3E4-505E32857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008" y="3206136"/>
                <a:ext cx="4572000" cy="811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8908BF-7C10-84BA-8CAE-0F92C006A926}"/>
                  </a:ext>
                </a:extLst>
              </p:cNvPr>
              <p:cNvSpPr txBox="1"/>
              <p:nvPr/>
            </p:nvSpPr>
            <p:spPr>
              <a:xfrm>
                <a:off x="5700378" y="5379525"/>
                <a:ext cx="6383178" cy="613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8908BF-7C10-84BA-8CAE-0F92C006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378" y="5379525"/>
                <a:ext cx="6383178" cy="6130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0E3CE7-16DE-0B3A-A513-B35B5B01484C}"/>
                  </a:ext>
                </a:extLst>
              </p:cNvPr>
              <p:cNvSpPr txBox="1"/>
              <p:nvPr/>
            </p:nvSpPr>
            <p:spPr>
              <a:xfrm>
                <a:off x="6876908" y="1411883"/>
                <a:ext cx="3886200" cy="1143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fun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0E3CE7-16DE-0B3A-A513-B35B5B01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908" y="1411883"/>
                <a:ext cx="3886200" cy="1143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1F2380B-E04C-51B6-211C-7ACBE487069B}"/>
              </a:ext>
            </a:extLst>
          </p:cNvPr>
          <p:cNvSpPr txBox="1"/>
          <p:nvPr/>
        </p:nvSpPr>
        <p:spPr>
          <a:xfrm>
            <a:off x="5963729" y="966744"/>
            <a:ext cx="292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Prey model (Dubins car):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73516-E34A-5CED-25F2-79C34D44B0B8}"/>
              </a:ext>
            </a:extLst>
          </p:cNvPr>
          <p:cNvSpPr txBox="1"/>
          <p:nvPr/>
        </p:nvSpPr>
        <p:spPr>
          <a:xfrm>
            <a:off x="5963729" y="2652138"/>
            <a:ext cx="352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Formation kinematic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29179E-AEFC-D336-A02D-180ECC0D24EC}"/>
                  </a:ext>
                </a:extLst>
              </p:cNvPr>
              <p:cNvSpPr txBox="1"/>
              <p:nvPr/>
            </p:nvSpPr>
            <p:spPr>
              <a:xfrm>
                <a:off x="5962893" y="4228114"/>
                <a:ext cx="3529406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The position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/>
                  <a:t> agent: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29179E-AEFC-D336-A02D-180ECC0D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893" y="4228114"/>
                <a:ext cx="3529406" cy="374270"/>
              </a:xfrm>
              <a:prstGeom prst="rect">
                <a:avLst/>
              </a:prstGeom>
              <a:blipFill>
                <a:blip r:embed="rId8"/>
                <a:stretch>
                  <a:fillRect l="-1382" t="-6557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583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11D3-83C3-C209-0A75-6A715D8D2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ADF8-A7C5-D7A9-4ACF-94B7EC99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Controller Design</a:t>
            </a:r>
            <a:endParaRPr lang="vi-VN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BA6BB-4E2A-5973-9D75-CAFDE426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19</a:t>
            </a:fld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E5ED8-476C-A1D6-0843-7CCB0E975116}"/>
                  </a:ext>
                </a:extLst>
              </p:cNvPr>
              <p:cNvSpPr txBox="1"/>
              <p:nvPr/>
            </p:nvSpPr>
            <p:spPr>
              <a:xfrm>
                <a:off x="1676400" y="1939531"/>
                <a:ext cx="8839200" cy="984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𝑹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E5ED8-476C-A1D6-0843-7CCB0E975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939531"/>
                <a:ext cx="883920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BC9824-301E-A18F-D765-74140A1574DD}"/>
                  </a:ext>
                </a:extLst>
              </p:cNvPr>
              <p:cNvSpPr txBox="1"/>
              <p:nvPr/>
            </p:nvSpPr>
            <p:spPr>
              <a:xfrm>
                <a:off x="1376362" y="4102112"/>
                <a:ext cx="9439276" cy="1275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𝑇𝑟𝑎𝑐𝑘𝑖𝑛𝑔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begChr m:val="|"/>
                                                      <m:endChr m:val="|"/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d>
                                                        <m:dPr>
                                                          <m:begChr m:val="|"/>
                                                          <m:endChr m:val="|"/>
                                                          <m:ctrlP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𝒑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𝑐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+</m:t>
                                                          </m:r>
                                                          <m:r>
                                                            <a:rPr lang="en-US" b="1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𝑹</m:t>
                                                          </m:r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en-US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en-US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𝜃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en-US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𝑐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𝒓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𝜼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𝑝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num>
                                            <m:den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𝑜𝑏𝑠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𝑂𝑏𝑠𝑒𝑟𝑣𝑎𝑡𝑖𝑜𝑛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𝑐𝑜𝑣𝑒𝑟𝑎𝑔𝑒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𝐶𝑜𝑛𝑡𝑟𝑜𝑙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𝑒𝑓𝑓𝑜𝑟𝑡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lim>
                      </m:limLow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BC9824-301E-A18F-D765-74140A157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362" y="4102112"/>
                <a:ext cx="9439276" cy="12758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026D16-5C8C-BC55-0F6A-B9D957802B89}"/>
                  </a:ext>
                </a:extLst>
              </p:cNvPr>
              <p:cNvSpPr txBox="1"/>
              <p:nvPr/>
            </p:nvSpPr>
            <p:spPr>
              <a:xfrm>
                <a:off x="581891" y="1195927"/>
                <a:ext cx="5719156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The observability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/>
                  <a:t> drone: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026D16-5C8C-BC55-0F6A-B9D957802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1" y="1195927"/>
                <a:ext cx="5719156" cy="374270"/>
              </a:xfrm>
              <a:prstGeom prst="rect">
                <a:avLst/>
              </a:prstGeom>
              <a:blipFill>
                <a:blip r:embed="rId5"/>
                <a:stretch>
                  <a:fillRect l="-852"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5C7FF3-5008-DB47-06CF-58EF2D4B768D}"/>
              </a:ext>
            </a:extLst>
          </p:cNvPr>
          <p:cNvSpPr txBox="1"/>
          <p:nvPr/>
        </p:nvSpPr>
        <p:spPr>
          <a:xfrm>
            <a:off x="581891" y="3406315"/>
            <a:ext cx="45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cost function for the leader:</a:t>
            </a:r>
          </a:p>
        </p:txBody>
      </p:sp>
    </p:spTree>
    <p:extLst>
      <p:ext uri="{BB962C8B-B14F-4D97-AF65-F5344CB8AC3E}">
        <p14:creationId xmlns:p14="http://schemas.microsoft.com/office/powerpoint/2010/main" val="3102403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694E-7B74-C852-2F88-B54D698B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F72F-1A2F-68C7-C818-AF426180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Controller Design</a:t>
            </a:r>
            <a:endParaRPr lang="vi-VN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D5820-2AE3-2D71-7691-6456C86E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20</a:t>
            </a:fld>
            <a:endParaRPr lang="vi-VN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97A71-2070-7B24-08E2-01695D44A3F8}"/>
                  </a:ext>
                </a:extLst>
              </p:cNvPr>
              <p:cNvSpPr txBox="1"/>
              <p:nvPr/>
            </p:nvSpPr>
            <p:spPr>
              <a:xfrm>
                <a:off x="1376360" y="1454448"/>
                <a:ext cx="9439276" cy="101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𝒑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𝑹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𝜃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𝑐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𝑜𝑏𝑠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97A71-2070-7B24-08E2-01695D44A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360" y="1454448"/>
                <a:ext cx="9439276" cy="1014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7F0804-D8BE-727D-F6A3-CD65E7552DED}"/>
                  </a:ext>
                </a:extLst>
              </p:cNvPr>
              <p:cNvSpPr txBox="1"/>
              <p:nvPr/>
            </p:nvSpPr>
            <p:spPr>
              <a:xfrm>
                <a:off x="2736848" y="3335547"/>
                <a:ext cx="6718300" cy="769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𝑹𝒖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𝑹𝒖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7F0804-D8BE-727D-F6A3-CD65E7552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848" y="3335547"/>
                <a:ext cx="6718300" cy="7695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042B1C-BEDC-9C15-8D00-3618F0D79557}"/>
                  </a:ext>
                </a:extLst>
              </p:cNvPr>
              <p:cNvSpPr txBox="1"/>
              <p:nvPr/>
            </p:nvSpPr>
            <p:spPr>
              <a:xfrm>
                <a:off x="2678723" y="4505097"/>
                <a:ext cx="6834551" cy="154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𝜼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𝒄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042B1C-BEDC-9C15-8D00-3618F0D79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723" y="4505097"/>
                <a:ext cx="6834551" cy="15454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C644BAF-5040-EE22-3182-9AE6983953D8}"/>
              </a:ext>
            </a:extLst>
          </p:cNvPr>
          <p:cNvSpPr txBox="1"/>
          <p:nvPr/>
        </p:nvSpPr>
        <p:spPr>
          <a:xfrm>
            <a:off x="814647" y="1024696"/>
            <a:ext cx="502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minimize the value of the cost function: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CBC90-4F35-C271-4F13-321F2B5DC3CC}"/>
              </a:ext>
            </a:extLst>
          </p:cNvPr>
          <p:cNvSpPr txBox="1"/>
          <p:nvPr/>
        </p:nvSpPr>
        <p:spPr>
          <a:xfrm>
            <a:off x="814647" y="2566172"/>
            <a:ext cx="502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proposed control law:</a:t>
            </a:r>
          </a:p>
        </p:txBody>
      </p:sp>
    </p:spTree>
    <p:extLst>
      <p:ext uri="{BB962C8B-B14F-4D97-AF65-F5344CB8AC3E}">
        <p14:creationId xmlns:p14="http://schemas.microsoft.com/office/powerpoint/2010/main" val="3425847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46C82-2ADC-5107-EF28-816E26BE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62C0A4-82E2-8DE7-D967-22A84B26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21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C4DD50-F665-D1E3-EDDF-28CC284E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Simulation Result</a:t>
            </a:r>
            <a:endParaRPr lang="vi-VN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1C7E0-BD66-3A4C-36B3-2D6B9449CB9C}"/>
              </a:ext>
            </a:extLst>
          </p:cNvPr>
          <p:cNvSpPr txBox="1"/>
          <p:nvPr/>
        </p:nvSpPr>
        <p:spPr>
          <a:xfrm>
            <a:off x="3711144" y="5720313"/>
            <a:ext cx="613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15: Initial and final position of the formation and prey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1409D-4D25-1239-BD4E-BE413EA50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0" y="1620168"/>
            <a:ext cx="8712200" cy="361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28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055E-ED17-87C9-1000-4DC3D095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DD4A8-BEAB-2DC5-0FC6-38F67343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22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7DFC83-8146-DD51-6CF3-D1FE3CA1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Simualation Result</a:t>
            </a:r>
            <a:endParaRPr lang="vi-VN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23542-4889-0ECE-EF7A-0CD9A84FCC8D}"/>
              </a:ext>
            </a:extLst>
          </p:cNvPr>
          <p:cNvSpPr txBox="1"/>
          <p:nvPr/>
        </p:nvSpPr>
        <p:spPr>
          <a:xfrm>
            <a:off x="4473857" y="5830663"/>
            <a:ext cx="3244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16: Tracking performance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7654C-2DF3-3036-3932-739915706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597" y="1266466"/>
            <a:ext cx="8410828" cy="432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18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20A1-C883-27E7-5BAB-6AB40A44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CE6043-6842-5FAF-9F87-6C22917E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23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A8749A-4B8F-BD08-FA93-922BBCE19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Simulation Result</a:t>
            </a:r>
            <a:endParaRPr lang="vi-VN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16ABF-CB68-815B-68E8-3699AA347034}"/>
              </a:ext>
            </a:extLst>
          </p:cNvPr>
          <p:cNvSpPr txBox="1"/>
          <p:nvPr/>
        </p:nvSpPr>
        <p:spPr>
          <a:xfrm>
            <a:off x="4260050" y="5752374"/>
            <a:ext cx="3659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Fig 17: Cost function convergence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44A0F-03DA-A990-9D50-D7F815D7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711" y="1312208"/>
            <a:ext cx="8610600" cy="435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73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04F4-4B17-ECA7-5C50-970C4546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29DAD-A408-135A-2CCD-C89121F4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24</a:t>
            </a:fld>
            <a:endParaRPr lang="vi-VN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9AAF4F-AC1E-CD0E-78A6-45C2E49B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Conclusion &amp; Future work</a:t>
            </a:r>
            <a:endParaRPr lang="vi-VN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1BC59-2BB5-83AB-BFF3-E54E3581D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266" y="1327303"/>
            <a:ext cx="11565467" cy="4868449"/>
          </a:xfrm>
        </p:spPr>
        <p:txBody>
          <a:bodyPr/>
          <a:lstStyle/>
          <a:p>
            <a:r>
              <a:rPr lang="en-US" noProof="1"/>
              <a:t>Conclusion</a:t>
            </a:r>
            <a:r>
              <a:rPr lang="vi-VN" noProof="1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noProof="1"/>
              <a:t>Achievements</a:t>
            </a:r>
            <a:r>
              <a:rPr lang="vi-VN" noProof="1"/>
              <a:t>: </a:t>
            </a:r>
            <a:endParaRPr lang="en-US" noProof="1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1"/>
              <a:t>Decentralized formation control using distance-based potential functions.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1"/>
              <a:t>Connectivity preservation &amp; collision avoidance.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1"/>
              <a:t>Gradient descent optimal tracking.</a:t>
            </a:r>
            <a:endParaRPr lang="vi-VN" noProof="1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noProof="1"/>
              <a:t>Limitations: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1"/>
              <a:t>No experimental validation.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1"/>
              <a:t>Observer not fully satisfactory.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noProof="1"/>
              <a:t>Cost function has local optimal.</a:t>
            </a:r>
            <a:endParaRPr lang="vi-VN" noProof="1"/>
          </a:p>
          <a:p>
            <a:r>
              <a:rPr lang="en-US" noProof="1"/>
              <a:t>Future work</a:t>
            </a:r>
            <a:r>
              <a:rPr lang="vi-VN" noProof="1"/>
              <a:t>:</a:t>
            </a:r>
            <a:endParaRPr lang="en-US" noProof="1"/>
          </a:p>
          <a:p>
            <a:pPr lvl="1"/>
            <a:r>
              <a:rPr lang="en-US" noProof="1"/>
              <a:t>Overcome the above limitations.</a:t>
            </a:r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235037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vi-VN" noProof="1" smtClean="0"/>
              <a:pPr/>
              <a:t>25</a:t>
            </a:fld>
            <a:endParaRPr lang="vi-VN" noProof="1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5705095" y="3021992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4800" noProof="1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8999</TotalTime>
  <Words>5201</Words>
  <Application>Microsoft Office PowerPoint</Application>
  <PresentationFormat>Widescreen</PresentationFormat>
  <Paragraphs>278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Courier New</vt:lpstr>
      <vt:lpstr>Lato</vt:lpstr>
      <vt:lpstr>Office Theme</vt:lpstr>
      <vt:lpstr>PowerPoint Presentation</vt:lpstr>
      <vt:lpstr>PowerPoint Presentation</vt:lpstr>
      <vt:lpstr>Introduction</vt:lpstr>
      <vt:lpstr>Introduction</vt:lpstr>
      <vt:lpstr>Mathematical Model</vt:lpstr>
      <vt:lpstr>Mathematical Model</vt:lpstr>
      <vt:lpstr>Mathematical Model</vt:lpstr>
      <vt:lpstr>Formation Strategy</vt:lpstr>
      <vt:lpstr>Connectivity Preserving</vt:lpstr>
      <vt:lpstr>Collision Avoidance</vt:lpstr>
      <vt:lpstr>Observer Design</vt:lpstr>
      <vt:lpstr>Controller Design</vt:lpstr>
      <vt:lpstr>Controller Design</vt:lpstr>
      <vt:lpstr>Simulation Result</vt:lpstr>
      <vt:lpstr>Simulation Result</vt:lpstr>
      <vt:lpstr>Simulation Result</vt:lpstr>
      <vt:lpstr>Tracking Prey</vt:lpstr>
      <vt:lpstr>Mathematical Model</vt:lpstr>
      <vt:lpstr>Controller Design</vt:lpstr>
      <vt:lpstr>Controller Design</vt:lpstr>
      <vt:lpstr>Simulation Result</vt:lpstr>
      <vt:lpstr>Simualation Result</vt:lpstr>
      <vt:lpstr>Simulation Result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Ngoc Huy 20222300</dc:creator>
  <cp:lastModifiedBy>Nguyen Ngoc Huy 20222300</cp:lastModifiedBy>
  <cp:revision>33</cp:revision>
  <dcterms:created xsi:type="dcterms:W3CDTF">2026-06-30T13:34:13Z</dcterms:created>
  <dcterms:modified xsi:type="dcterms:W3CDTF">2026-07-10T02:01:59Z</dcterms:modified>
</cp:coreProperties>
</file>